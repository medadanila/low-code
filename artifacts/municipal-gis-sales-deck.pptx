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f233508f454a6a" /><Relationship Type="http://schemas.openxmlformats.org/officeDocument/2006/relationships/extended-properties" Target="/docProps/app.xml" Id="R6cf5ea01142b483b" /><Relationship Type="http://schemas.openxmlformats.org/officeDocument/2006/relationships/officeDocument" Target="/ppt/presentation.xml" Id="R57ba41374f0d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68200456e4f0d"/>
  </p:sldMasterIdLst>
  <p:notesMasterIdLst>
    <p:notesMasterId xmlns:r="http://schemas.openxmlformats.org/officeDocument/2006/relationships" r:id="Ra81b12606b914a84"/>
  </p:notesMasterIdLst>
  <p:sldIdLst>
    <p:sldId xmlns:r="http://schemas.openxmlformats.org/officeDocument/2006/relationships" id="256" r:id="Rc7edf773e5e64efb"/>
    <p:sldId xmlns:r="http://schemas.openxmlformats.org/officeDocument/2006/relationships" id="257" r:id="R601da1ab887648a9"/>
    <p:sldId xmlns:r="http://schemas.openxmlformats.org/officeDocument/2006/relationships" id="258" r:id="R6c8543b67a6946f1"/>
    <p:sldId xmlns:r="http://schemas.openxmlformats.org/officeDocument/2006/relationships" id="259" r:id="R3e7c38a0aa724573"/>
    <p:sldId xmlns:r="http://schemas.openxmlformats.org/officeDocument/2006/relationships" id="260" r:id="Re28b4f56cda24861"/>
    <p:sldId xmlns:r="http://schemas.openxmlformats.org/officeDocument/2006/relationships" id="261" r:id="R377253ac0f714838"/>
    <p:sldId xmlns:r="http://schemas.openxmlformats.org/officeDocument/2006/relationships" id="262" r:id="R8c38b9fc0cf14ec1"/>
    <p:sldId xmlns:r="http://schemas.openxmlformats.org/officeDocument/2006/relationships" id="263" r:id="R6a949602465e4ccc"/>
    <p:sldId xmlns:r="http://schemas.openxmlformats.org/officeDocument/2006/relationships" id="264" r:id="R88ee830465734627"/>
    <p:sldId xmlns:r="http://schemas.openxmlformats.org/officeDocument/2006/relationships" id="265" r:id="Ra24f60f208e145bc"/>
    <p:sldId xmlns:r="http://schemas.openxmlformats.org/officeDocument/2006/relationships" id="266" r:id="R5f6887db6a1e4cd2"/>
    <p:sldId xmlns:r="http://schemas.openxmlformats.org/officeDocument/2006/relationships" id="267" r:id="Ra9e1ab0c9ad548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3fa3cb57f4612" /><Relationship Type="http://schemas.openxmlformats.org/officeDocument/2006/relationships/slideMaster" Target="/ppt/slideMasters/slideMaster1.xml" Id="R22568200456e4f0d" /><Relationship Type="http://schemas.openxmlformats.org/officeDocument/2006/relationships/notesMaster" Target="/ppt/notesMasters/notesMaster1.xml" Id="Ra81b12606b914a84" /><Relationship Type="http://schemas.openxmlformats.org/officeDocument/2006/relationships/presProps" Target="/ppt/presProps.xml" Id="R9f0253a509184d04" /><Relationship Type="http://schemas.openxmlformats.org/officeDocument/2006/relationships/tableStyles" Target="/ppt/tableStyles.xml" Id="Reb7e50fcf47a477b" /><Relationship Type="http://schemas.openxmlformats.org/officeDocument/2006/relationships/slide" Target="/ppt/slides/slide1.xml" Id="Rc7edf773e5e64efb" /><Relationship Type="http://schemas.openxmlformats.org/officeDocument/2006/relationships/slide" Target="/ppt/slides/slide2.xml" Id="R601da1ab887648a9" /><Relationship Type="http://schemas.openxmlformats.org/officeDocument/2006/relationships/slide" Target="/ppt/slides/slide3.xml" Id="R6c8543b67a6946f1" /><Relationship Type="http://schemas.openxmlformats.org/officeDocument/2006/relationships/slide" Target="/ppt/slides/slide4.xml" Id="R3e7c38a0aa724573" /><Relationship Type="http://schemas.openxmlformats.org/officeDocument/2006/relationships/slide" Target="/ppt/slides/slide5.xml" Id="Re28b4f56cda24861" /><Relationship Type="http://schemas.openxmlformats.org/officeDocument/2006/relationships/slide" Target="/ppt/slides/slide6.xml" Id="R377253ac0f714838" /><Relationship Type="http://schemas.openxmlformats.org/officeDocument/2006/relationships/slide" Target="/ppt/slides/slide7.xml" Id="R8c38b9fc0cf14ec1" /><Relationship Type="http://schemas.openxmlformats.org/officeDocument/2006/relationships/slide" Target="/ppt/slides/slide8.xml" Id="R6a949602465e4ccc" /><Relationship Type="http://schemas.openxmlformats.org/officeDocument/2006/relationships/slide" Target="/ppt/slides/slide9.xml" Id="R88ee830465734627" /><Relationship Type="http://schemas.openxmlformats.org/officeDocument/2006/relationships/slide" Target="/ppt/slides/slide10.xml" Id="Ra24f60f208e145bc" /><Relationship Type="http://schemas.openxmlformats.org/officeDocument/2006/relationships/slide" Target="/ppt/slides/slide11.xml" Id="R5f6887db6a1e4cd2" /><Relationship Type="http://schemas.openxmlformats.org/officeDocument/2006/relationships/slide" Target="/ppt/slides/slide12.xml" Id="Ra9e1ab0c9ad5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553515b1045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358e6fd8a44e2" /><Relationship Type="http://schemas.openxmlformats.org/officeDocument/2006/relationships/notesMaster" Target="/ppt/notesMasters/notesMaster1.xml" Id="Red0e6aee164346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b289fe0d643ec" /><Relationship Type="http://schemas.openxmlformats.org/officeDocument/2006/relationships/notesMaster" Target="/ppt/notesMasters/notesMaster1.xml" Id="R2f11660cc14142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066b46e7054c44" /><Relationship Type="http://schemas.openxmlformats.org/officeDocument/2006/relationships/notesMaster" Target="/ppt/notesMasters/notesMaster1.xml" Id="R41e157bed720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59430a1ecf4e3c" /><Relationship Type="http://schemas.openxmlformats.org/officeDocument/2006/relationships/notesMaster" Target="/ppt/notesMasters/notesMaster1.xml" Id="R9322fc6cbda9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aa22958b804ebb" /><Relationship Type="http://schemas.openxmlformats.org/officeDocument/2006/relationships/notesMaster" Target="/ppt/notesMasters/notesMaster1.xml" Id="R7f0ef26dcac349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ed8e5f32804c62" /><Relationship Type="http://schemas.openxmlformats.org/officeDocument/2006/relationships/notesMaster" Target="/ppt/notesMasters/notesMaster1.xml" Id="Re7da8419977945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2cdb5ab1f143ed" /><Relationship Type="http://schemas.openxmlformats.org/officeDocument/2006/relationships/notesMaster" Target="/ppt/notesMasters/notesMaster1.xml" Id="R9501fe59e8ea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70be30fb3c4aec" /><Relationship Type="http://schemas.openxmlformats.org/officeDocument/2006/relationships/notesMaster" Target="/ppt/notesMasters/notesMaster1.xml" Id="R02ade7909c7e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2387b0818b4b87" /><Relationship Type="http://schemas.openxmlformats.org/officeDocument/2006/relationships/notesMaster" Target="/ppt/notesMasters/notesMaster1.xml" Id="R144144f3edd64b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13e04ca24042d5" /><Relationship Type="http://schemas.openxmlformats.org/officeDocument/2006/relationships/notesMaster" Target="/ppt/notesMasters/notesMaster1.xml" Id="R036c3cfe877b41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8c2f8fdda442ef" /><Relationship Type="http://schemas.openxmlformats.org/officeDocument/2006/relationships/notesMaster" Target="/ppt/notesMasters/notesMaster1.xml" Id="Rc772ab9cd80741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9cd66cbc804129" /><Relationship Type="http://schemas.openxmlformats.org/officeDocument/2006/relationships/notesMaster" Target="/ppt/notesMasters/notesMaster1.xml" Id="Re9739782489a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презентацию с простой формулы продукта: существующие таблицы и адреса превращаются в управляемые городские объекты.</a:t>
            </a:r>
          </a:p>
          <a:p xmlns:a="http://schemas.openxmlformats.org/drawingml/2006/main">
            <a:r>
              <a:t>Главный акцент: это не отдельная карта и не отдельный реестр, а рабочий контур для исполнения и контроля.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фиксирует боль покупателя без спорных количественных заявлений: разрозненность реестров, карт, документов, контроля и интеграций.</a:t>
            </a:r>
          </a:p>
          <a:p xmlns:a="http://schemas.openxmlformats.org/drawingml/2006/main">
            <a:r>
              <a:t>Это типовой вход в продажу для администрации, департамента или контролирующего органа.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Главная продажная мысль: сущность является центром продукта. Из нее строятся реестр, форма, карточка, карта, права и API.</a:t>
            </a:r>
          </a:p>
          <a:p xmlns:a="http://schemas.openxmlformats.org/drawingml/2006/main">
            <a:r>
              <a:t>Эта логика отражена в доменной модели EntitySchema и generic widgets.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переводит технические функции в язык пользователя: вместо таблиц и разрозненных действий сотрудник получает единое рабочее место.</a:t>
            </a:r>
          </a:p>
          <a:p xmlns:a="http://schemas.openxmlformats.org/drawingml/2006/main">
            <a:r>
              <a:t>Функции подтверждаются страницами runtime: dashboard, map, entity registry, entity create/details,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Контролирующим органам продаем прозрачность: проверяемые объекты, правила, история изменений и подтверждающие документы находятся в одном контуре.</a:t>
            </a:r>
          </a:p>
          <a:p xmlns:a="http://schemas.openxmlformats.org/drawingml/2006/main">
            <a:r>
              <a:t>Доменная модель содержит GeoRule, Workflow, Task, Attachment и AuditEvent.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обзорная карта модулей для демонстрации продукта. Слайды дальше раскрывают самые продаваемые сценарии.</a:t>
            </a:r>
          </a:p>
          <a:p xmlns:a="http://schemas.openxmlformats.org/drawingml/2006/main">
            <a:r>
              <a:t>Модули соответствуют текущей структуре роутов и виджетов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сценарии импорта важно подчеркнуть привычную точку входа: у муниципалитета уже есть Excel, и платформа превращает его в управляемые объекты.</a:t>
            </a:r>
          </a:p>
          <a:p xmlns:a="http://schemas.openxmlformats.org/drawingml/2006/main">
            <a:r>
              <a:t>Реализация использует страницу импорта, парсинг дат и addressGeometry с DaData/Nominatim.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является продающим ядром продукта: объект не только имеет адрес, но и получает геометрию здания или пользовательскую геометрию.</a:t>
            </a:r>
          </a:p>
          <a:p xmlns:a="http://schemas.openxmlformats.org/drawingml/2006/main">
            <a:r>
              <a:t>Слайд опирается на MapCanvas, GeometryEditor, addressGeometry, DaData и Nominatim.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Дашборд продаем как управленческий экран: не просто количество записей, а условия, которые подсвечивают риск и действие.</a:t>
            </a:r>
          </a:p>
          <a:p xmlns:a="http://schemas.openxmlformats.org/drawingml/2006/main">
            <a:r>
              <a:t>Функциональность описана в DashboardPage, dashboardFilters и типах DashboardSummaryBlock.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Технический слайд нужен для IT-директора и закупочного комитета: показываем, что продукт можно переводить в промышленный backend без ломки доменной модели.</a:t>
            </a:r>
          </a:p>
          <a:p xmlns:a="http://schemas.openxmlformats.org/drawingml/2006/main">
            <a:r>
              <a:t>Основание: README, generatedApi и документ PostgreSQL 3НФ схемы.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избегает неподтвержденных цен и ROI, но дает понятную коммерческую лестницу: пилот, департамент, город/регион.</a:t>
            </a:r>
          </a:p>
          <a:p xmlns:a="http://schemas.openxmlformats.org/drawingml/2006/main">
            <a:r>
              <a:t>Упаковка опирается на модульность продукта и metadata-driven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Завершение переводит презентацию в конкретное действие: не просим купить абстрактную платформу, предлагаем быстрый пилот на реальном процессе.</a:t>
            </a:r>
          </a:p>
          <a:p xmlns:a="http://schemas.openxmlformats.org/drawingml/2006/main">
            <a:r>
              <a:t>Финальная формула соответствует текущим модулям продукта: импорт, сущности, карта, dashboard и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[Источники]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src/shared/types/domain.ts</a:t>
            </a:r>
          </a:p>
          <a:p xmlns:a="http://schemas.openxmlformats.org/drawingml/2006/main">
            <a:r>
              <a:t>- src/app/router/index.ts</a:t>
            </a:r>
          </a:p>
          <a:p xmlns:a="http://schemas.openxmlformats.org/drawingml/2006/main">
            <a:r>
              <a:t>- src/widgets/entity/EntityRegistry.vue</a:t>
            </a:r>
          </a:p>
          <a:p xmlns:a="http://schemas.openxmlformats.org/drawingml/2006/main">
            <a:r>
              <a:t>- src/widgets/entity/EntityForm.vue</a:t>
            </a:r>
          </a:p>
          <a:p xmlns:a="http://schemas.openxmlformats.org/drawingml/2006/main">
            <a:r>
              <a:t>- src/widgets/entity/EntityCard.vue</a:t>
            </a:r>
          </a:p>
          <a:p xmlns:a="http://schemas.openxmlformats.org/drawingml/2006/main">
            <a:r>
              <a:t>- src/widgets/map/MapCanvas.vue</a:t>
            </a:r>
          </a:p>
          <a:p xmlns:a="http://schemas.openxmlformats.org/drawingml/2006/main">
            <a:r>
              <a:t>- src/widgets/map/GeometryEditor.vue</a:t>
            </a:r>
          </a:p>
          <a:p xmlns:a="http://schemas.openxmlformats.org/drawingml/2006/main">
            <a:r>
              <a:t>- src/shared/lib/addressGeometry.ts</a:t>
            </a:r>
          </a:p>
          <a:p xmlns:a="http://schemas.openxmlformats.org/drawingml/2006/main">
            <a:r>
              <a:t>- src/shared/api/dadata.ts</a:t>
            </a:r>
          </a:p>
          <a:p xmlns:a="http://schemas.openxmlformats.org/drawingml/2006/main">
            <a:r>
              <a:t>- src/shared/api/nominatim.ts</a:t>
            </a:r>
          </a:p>
          <a:p xmlns:a="http://schemas.openxmlformats.org/drawingml/2006/main">
            <a:r>
              <a:t>- src/pages/admin/AdminImportPage.vue</a:t>
            </a:r>
          </a:p>
          <a:p xmlns:a="http://schemas.openxmlformats.org/drawingml/2006/main">
            <a:r>
              <a:t>- src/shared/lib/generatedApi.ts</a:t>
            </a:r>
          </a:p>
          <a:p xmlns:a="http://schemas.openxmlformats.org/drawingml/2006/main">
            <a:r>
              <a:t>- docs/postgres-3nf-schema.md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4d7914020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1c2f138e94cc3" /><Relationship Type="http://schemas.openxmlformats.org/officeDocument/2006/relationships/slideLayout" Target="/ppt/slideLayouts/slideLayout1.xml" Id="R51eb4dc6dc16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b4dc6dc16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1fd11b9fa4f25" /><Relationship Type="http://schemas.openxmlformats.org/officeDocument/2006/relationships/notesSlide" Target="/ppt/notesSlides/notesSlide1.xml" Id="R98f77fc5aa544a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59b23a9964bd7" /><Relationship Type="http://schemas.openxmlformats.org/officeDocument/2006/relationships/notesSlide" Target="/ppt/notesSlides/notesSlide2.xml" Id="R624a6d8606ba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e88303fd84a87" /><Relationship Type="http://schemas.openxmlformats.org/officeDocument/2006/relationships/notesSlide" Target="/ppt/notesSlides/notesSlide3.xml" Id="R9e756645874e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ecfb7bc94c2f" /><Relationship Type="http://schemas.openxmlformats.org/officeDocument/2006/relationships/notesSlide" Target="/ppt/notesSlides/notesSlide4.xml" Id="R36625b55a22b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0f4a9011c4c23" /><Relationship Type="http://schemas.openxmlformats.org/officeDocument/2006/relationships/notesSlide" Target="/ppt/notesSlides/notesSlide5.xml" Id="Rd34dab9c0304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cb458df2a4853" /><Relationship Type="http://schemas.openxmlformats.org/officeDocument/2006/relationships/notesSlide" Target="/ppt/notesSlides/notesSlide6.xml" Id="R2a122507f4794e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08f5d2f984fbd" /><Relationship Type="http://schemas.openxmlformats.org/officeDocument/2006/relationships/notesSlide" Target="/ppt/notesSlides/notesSlide7.xml" Id="Rbf232b501dae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53a7bc0e54001" /><Relationship Type="http://schemas.openxmlformats.org/officeDocument/2006/relationships/notesSlide" Target="/ppt/notesSlides/notesSlide8.xml" Id="R5e027ef69e5f4c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ff2a082fe44ac" /><Relationship Type="http://schemas.openxmlformats.org/officeDocument/2006/relationships/notesSlide" Target="/ppt/notesSlides/notesSlide9.xml" Id="R1513917e6f114f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838c42be74d48" /><Relationship Type="http://schemas.openxmlformats.org/officeDocument/2006/relationships/notesSlide" Target="/ppt/notesSlides/notesSlide10.xml" Id="R101cbb34873a49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08797644644ca" /><Relationship Type="http://schemas.openxmlformats.org/officeDocument/2006/relationships/notesSlide" Target="/ppt/notesSlides/notesSlide11.xml" Id="Ra2599045f9f740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91bff847c4fb0" /><Relationship Type="http://schemas.openxmlformats.org/officeDocument/2006/relationships/notesSlide" Target="/ppt/notesSlides/notesSlide12.xml" Id="R96d37bb0f7314c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E98537-4307-4835-8229-DEEEB75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LOW-CODE GIS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2FB3C-27FA-416B-B0C9-E17D108A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5334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20617"/>
                </a:solidFill>
              </a:defRPr>
            </a:pPr>
            <a:r>
              <a:rPr sz="4350" b="1" i="0">
                <a:solidFill>
                  <a:srgbClr val="020617"/>
                </a:solidFill>
              </a:rPr>
              <a:t>Муниципальная</a:t>
            </a:r>
          </a:p>
          <a:p xmlns:a="http://schemas.openxmlformats.org/drawingml/2006/main">
            <a:pPr>
              <a:defRPr sz="4350" b="1" i="0">
                <a:solidFill>
                  <a:srgbClr val="020617"/>
                </a:solidFill>
              </a:defRPr>
            </a:pPr>
            <a:r>
              <a:rPr sz="4350" b="1" i="0">
                <a:solidFill>
                  <a:srgbClr val="020617"/>
                </a:solidFill>
              </a:rPr>
              <a:t>GIS-платформа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F98E4-1B9D-4B8C-B0D3-6FE867F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Реестры, карта, процессы и контроль исполнения в одной системе для муниципальных работников и контролирующих органов.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72E48-7989-40FF-B0B2-B7ECFF70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81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206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6D763-3E78-4664-A4EE-11006E3B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Excel → адрес → карта → процесс → контроль →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22B25-E326-4661-9EE4-E2C4000B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7843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24296-A3B1-416D-A82E-1F0FD62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для муниципалитета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90D71-7DE9-40D3-8EA8-8C2F37F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863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7843"/>
            </a:srgbClr>
          </a:solidFill>
          <a:ln xmlns:a="http://schemas.openxmlformats.org/drawingml/2006/main" w="9525">
            <a:solidFill>
              <a:srgbClr val="7C3AED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7CD4C-BC55-4A97-9577-E481E3F6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7C3AED"/>
                </a:solidFill>
              </a:defRPr>
            </a:pPr>
            <a:r>
              <a:rPr sz="900" b="1" i="0">
                <a:solidFill>
                  <a:srgbClr val="7C3AED"/>
                </a:solidFill>
              </a:rPr>
              <a:t>для надзора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87C61-4B81-4050-B8EB-F829BD8E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86350"/>
            <a:ext cx="1162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7843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1E88D-76E2-49E2-A886-30BFA0F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625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59669"/>
                </a:solidFill>
              </a:defRPr>
            </a:pPr>
            <a:r>
              <a:rPr sz="900" b="1" i="0">
                <a:solidFill>
                  <a:srgbClr val="059669"/>
                </a:solidFill>
              </a:rPr>
              <a:t>для региона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590EC-9EFB-46C1-A8D1-4A00389F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"/>
            <a:ext cx="4152900" cy="44767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E4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06BE0-60E3-4842-8D42-049F571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AD95D-785F-484D-A2C3-E9AF0B4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B069A-EEEA-4FE4-AB26-FA609F7E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992AB-0921-42A9-96F2-93B1B846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CEA80-95DE-41CF-8432-D1D95A3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74F36-E8AB-46E9-A5F5-EF81122D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D8D89-B37B-4843-B2AA-2DE36D53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9F493-1760-4B17-AB4B-4C8C1F45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047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600E3E-DAB3-4E19-BD56-489DDB65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12395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FE324-15B5-4567-935E-FCE1A46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6210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8C4E7-C6C3-442C-BBA4-DE660EE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0025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4F81C-C76C-4FFB-9878-BED6E78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DD4B3-EF48-4FE3-90D5-E478CE1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14DF8-B2AD-4134-A380-B9852D0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1470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B24F6C-1799-4AEA-B30A-43334AF3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21555-1426-4514-BBA6-D21AE3A6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9100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3FD0D-C0E1-49AC-9A76-1B72AFFC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0AE15-D66F-442E-B88C-3084F8B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67300"/>
            <a:ext cx="373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519EB-EEDE-4C97-A1FA-76526EC5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2095500" cy="1409700"/>
          </a:xfrm>
          <a:custGeom xmlns:a="http://schemas.openxmlformats.org/drawingml/2006/main">
            <a:pathLst>
              <a:path w="2095500" h="1409700">
                <a:moveTo>
                  <a:pt x="247650" y="171450"/>
                </a:moveTo>
                <a:lnTo>
                  <a:pt x="1695450" y="323850"/>
                </a:lnTo>
                <a:lnTo>
                  <a:pt x="1866900" y="1123950"/>
                </a:lnTo>
                <a:lnTo>
                  <a:pt x="781050" y="1257300"/>
                </a:lnTo>
                <a:lnTo>
                  <a:pt x="171450" y="781050"/>
                </a:lnTo>
                <a:close/>
              </a:path>
            </a:pathLst>
          </a:cu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B7AE89-9FCB-4C08-A06D-D7B4EEED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9334500" y="3333750"/>
            <a:ext cx="18097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6D1BE-4F12-4B1B-A38B-970D7702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81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539B59-EC37-4ACA-AAEC-78F4624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14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651F21-6EEF-48A5-8241-63D3426B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196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адрес → координаты → контур здания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BBBB7D-6B7A-4187-91C5-6B97919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857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68176D-DA5B-453B-A201-09634398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05425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20617"/>
                </a:solidFill>
              </a:defRPr>
            </a:pPr>
            <a:r>
              <a:rPr sz="1125" b="1" i="0">
                <a:solidFill>
                  <a:srgbClr val="020617"/>
                </a:solidFill>
              </a:rPr>
              <a:t>Один объект = карточка</a:t>
            </a:r>
          </a:p>
          <a:p xmlns:a="http://schemas.openxmlformats.org/drawingml/2006/main">
            <a:pPr>
              <a:defRPr sz="1125" b="1" i="0">
                <a:solidFill>
                  <a:srgbClr val="020617"/>
                </a:solidFill>
              </a:defRPr>
            </a:pPr>
            <a:r>
              <a:rPr sz="1125" b="1" i="0">
                <a:solidFill>
                  <a:srgbClr val="020617"/>
                </a:solidFill>
              </a:rPr>
              <a:t>+ геометрия + статус + история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973A3D-D8B2-4F5A-8DD4-CE6FA6A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3830D2-8F0E-47F5-8C15-322E9F5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5128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AA5BF4-AB10-4CB2-B91B-3E84D536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F200F-98D4-4460-860D-E793FCAF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Муниципальная работа распадается на несвязанные контуры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A6C45-FE53-49CA-ADE8-EFB839B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A3580-A737-4EA5-A3A8-E8883EF0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4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00103-D101-4515-8207-80A9BD68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89FE1-2C9A-4A06-A956-A1CD9F40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14575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7"/>
                </a:solidFill>
              </a:defRPr>
            </a:pPr>
            <a:r>
              <a:rPr sz="1425" b="1" i="0">
                <a:solidFill>
                  <a:srgbClr val="020617"/>
                </a:solidFill>
              </a:rPr>
              <a:t>Excel-реестры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1C541-597C-416C-9974-6CF69EA6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адреса, сроки, статусы и ответственные живут в разных файлах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350A-C863-4D01-8AE7-53F8EBDA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04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4BAE6-7870-402C-A21C-90472FC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9822B-71AF-446F-9C1A-F30A9E5A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7"/>
                </a:solidFill>
              </a:defRPr>
            </a:pPr>
            <a:r>
              <a:rPr sz="1425" b="1" i="0">
                <a:solidFill>
                  <a:srgbClr val="020617"/>
                </a:solidFill>
              </a:rPr>
              <a:t>Карты отдельно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555CC-E388-41F0-8E07-832294A9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геометрия объекта не связана с карточкой, документами и проверками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6C74C-2C85-4552-BD41-0EFB69A8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304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02D7E-5208-4190-BD82-7C3D8CA9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9D018-40EA-4757-97C9-607EF87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7"/>
                </a:solidFill>
              </a:defRPr>
            </a:pPr>
            <a:r>
              <a:rPr sz="1425" b="1" i="0">
                <a:solidFill>
                  <a:srgbClr val="020617"/>
                </a:solidFill>
              </a:rPr>
              <a:t>Документы отдельно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A330F-2BC4-49E5-91E3-91EC11A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акты, фотографии и отчеты трудно привязать к конкретному объекту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EB43B-CE97-433F-9110-13F95E5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F819A-622D-461D-9904-EFEE6D63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969A7-4AA3-4D6D-83B8-682097C9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7"/>
                </a:solidFill>
              </a:defRPr>
            </a:pPr>
            <a:r>
              <a:rPr sz="1425" b="1" i="0">
                <a:solidFill>
                  <a:srgbClr val="020617"/>
                </a:solidFill>
              </a:rPr>
              <a:t>Контроль вручную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E9CB3-79B4-4200-9918-AACA0F8E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4114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просрочки, нарушения и изменения собираются через звонки и переписки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A3A9F-27F1-46E6-B3AB-8B5EE779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B7B6F-5FE9-4A5E-811B-C489FAF6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CB2EA-00F5-4752-A72A-D227D76F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24325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20617"/>
                </a:solidFill>
              </a:defRPr>
            </a:pPr>
            <a:r>
              <a:rPr sz="1425" b="1" i="0">
                <a:solidFill>
                  <a:srgbClr val="020617"/>
                </a:solidFill>
              </a:rPr>
              <a:t>API в конце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8BEBB-986D-4FBB-8396-A3A2FE75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4114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4748B"/>
                </a:solidFill>
              </a:defRPr>
            </a:pPr>
            <a:r>
              <a:rPr sz="1125" b="0" i="0">
                <a:solidFill>
                  <a:srgbClr val="64748B"/>
                </a:solidFill>
              </a:rPr>
              <a:t>интеграции появляются поздно и требуют дополнительной разработки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4F819-C084-49BF-874E-705787E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20617"/>
                </a:solidFill>
              </a:defRPr>
            </a:pPr>
            <a:r>
              <a:rPr sz="1650" b="1" i="0">
                <a:solidFill>
                  <a:srgbClr val="020617"/>
                </a:solidFill>
              </a:rPr>
              <a:t>Итог: каждый новый процесс запускается как ручная сборка из таблиц, карт, документов и отчетов.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9EE9B-33DF-4AAC-9DC9-0CE489E6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07B4D-CEA1-4B8B-BF65-677EC833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5919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DBAC-89B1-4694-88D6-E72BAA39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45D14-F670-4169-9457-DC4EF880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Решение: единый контур от данных до контроля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4A44-CDF9-4C64-8E45-98872934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30DCD-4F38-4285-BF99-81BA3B1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0F172A"/>
                </a:solidFill>
              </a:defRPr>
            </a:pPr>
            <a:r>
              <a:rPr sz="1725" b="0" i="0">
                <a:solidFill>
                  <a:srgbClr val="0F172A"/>
                </a:solidFill>
              </a:rPr>
              <a:t>Платформа собирает объект, карту, процесс, документы, аудит и API вокруг одной сущности. Новые реестры создаются через настройки, а пользователь работает в готовом интерфейсе.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D9F8E-83C9-41B2-873A-8A941B11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57965-E02D-45E9-A773-E6528175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BF3AA-F2B7-4486-8C6F-D6146D3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Сущность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EDA5C-A1E8-426E-9CC9-0C023535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20617"/>
                </a:solidFill>
              </a:defRPr>
            </a:pPr>
            <a:r>
              <a:rPr sz="2250" b="1" i="0">
                <a:solidFill>
                  <a:srgbClr val="020617"/>
                </a:solidFill>
              </a:rPr>
              <a:t>1 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96F4D-9AFF-4690-8BA1-63D67171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поля, справочники, карта, права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A5F7C-75DC-45AB-912B-22E4D91B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2476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1B110-89A3-4620-9D7C-E312410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9FBD3-802C-4F6A-A766-7610DB30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48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Рабочий контур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B956B-F93F-4C9B-BF58-F69A53E8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20617"/>
                </a:solidFill>
              </a:defRPr>
            </a:pPr>
            <a:r>
              <a:rPr sz="2250" b="1" i="0">
                <a:solidFill>
                  <a:srgbClr val="020617"/>
                </a:solidFill>
              </a:rPr>
              <a:t>5 слоев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34735-5F85-4651-8CB2-DC25D01B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72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реестр, карточка, карта, задачи, аудит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AC412-D5B0-4FEA-8E5B-1BECF592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35E4E-B413-4D84-B4C1-6B4BD95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1A083-5796-4A6B-84A3-20D1993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Настроить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07547-80AE-40C5-8873-C59E087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сущность, поля, геометрию, стили, роли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9BBBF-DD9C-4436-97FC-8F4962D7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43837-D7F3-40B4-8477-8D147291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756E9-4331-426D-A098-51DF3F5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Загрузить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EFDAC-F6FB-48EE-82B6-1621CBC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Excel/CSV, сопоставление колонок, проверка строк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F63CC-3468-41ED-8219-33EFF69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DC822-F594-481B-90ED-BD6C4387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90CAE-1E2A-4FA1-8A4B-DC85A48A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Работать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1E882-FB03-415E-9A0A-9F0D6B3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карточки объектов, карта, документы и переходы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7B6DC3-71FD-4DC4-A097-C16CF66B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3380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8DAF8-99E7-4423-93E9-F1414AE3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338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CCE02-73D2-4E56-B313-CF583E09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Контролировать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2EF85-1139-44BE-A260-E64A8628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100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дашборд, гео-правила, аудит и API</a:t>
            </a:r>
          </a:p>
        </p:txBody>
      </p: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248650" y="2476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68" name=""/>
          <p:cNvCxnSpPr>
            <a:stCxn xmlns:a="http://schemas.openxmlformats.org/drawingml/2006/main" id="1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343775" y="3009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9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725025" y="300990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248650" y="4267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head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8FD3A-0AC3-4765-B1B4-A871E11B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1B7A7F-A238-47A3-847C-AE289676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0684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E1E423-20D0-4B6F-BA53-1A10A6D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ЦЕННОСТЬ ДЛЯ ИСПОЛНИТЕЛЯ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2DDD8-D570-42F1-9162-E7CE21D8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Для муниципального работника это рабочее место вместо Excel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6CAEE-10AC-48DC-A12F-56615469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F7F06-9136-40A7-8196-96C4A495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19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AB1A5-9A7E-4F92-ACC5-AE9F989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9525">
            <a:solidFill>
              <a:srgbClr val="2563EB">
                <a:alpha val="2666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E8866-D40E-4787-BB50-F415C1B7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457F9-2ADA-44FB-AE45-BE69EA72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19325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Вести реестр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278C9-305B-4B94-A484-BA4285F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24125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создавать объекты, менять поля, искать, фильтровать и видеть статусы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03883-B314-4124-9549-DD00875A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4819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D31F2-7126-4557-AF79-D71DEE3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59669">
              <a:alpha val="9412"/>
            </a:srgbClr>
          </a:solidFill>
          <a:ln xmlns:a="http://schemas.openxmlformats.org/drawingml/2006/main" w="9525">
            <a:solidFill>
              <a:srgbClr val="059669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023FD-42FE-4C32-BFA1-2E552325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07315-3FD2-4CFC-9C45-8EED365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19325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Работать с адресом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B6419-291B-48B7-8EB7-026CE4CD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24125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получать подсказки, нормализовать адрес и подставлять координаты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0BACC-18A0-4F76-858B-AD49025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819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2495F-054E-4206-A860-60FA3E1A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9525">
            <a:solidFill>
              <a:srgbClr val="7C3AED">
                <a:alpha val="2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2D9D1-B257-4A7F-B936-1C7B131C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5D090-DEB1-4A5A-931C-5A2C788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Использовать карту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A2EEA-C796-4226-848C-6ADCB67A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видеть объект на карте, редактировать геометрию и выбирать контур дома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381C3-B341-47AA-8353-C4E095B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819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490F7-9415-4D10-9EC5-01D2C7CE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2626">
              <a:alpha val="9412"/>
            </a:srgbClr>
          </a:solidFill>
          <a:ln xmlns:a="http://schemas.openxmlformats.org/drawingml/2006/main" w="9525">
            <a:solidFill>
              <a:srgbClr val="DC2626">
                <a:alpha val="2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95CBF-2696-4631-94D0-5DD72328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257FF-933D-4BE6-8DBF-9D66475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81425"/>
            <a:ext cx="403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Закрывать задачи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85124-7055-453A-B2D5-E93CE9B2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86225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проходить статусы, прикладывать документы и сохранять историю изменений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0CC87-0279-4426-AD1E-44CD9C2A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20617"/>
                </a:solidFill>
              </a:defRPr>
            </a:pPr>
            <a:r>
              <a:rPr sz="1650" b="1" i="0">
                <a:solidFill>
                  <a:srgbClr val="020617"/>
                </a:solidFill>
              </a:rPr>
              <a:t>Сотрудник не думает о структуре базы и интеграциях: он работает с понятной карточкой объекта и видит, что нужно сделать дальше.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DE4E3-079E-4836-921B-2D364530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AAFE6-C488-4489-B97D-85A0B2AA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7128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CCE34-01B9-4FEE-A7CB-C3D2059F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ЦЕННОСТЬ ДЛЯ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D1E7-8EEA-4975-980C-C9F3F3B7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Для контролирующих органов это прозрачная проверка исполнения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465A-FD5F-47D1-BA6D-5BDF75B8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4014F-1023-4E7F-893D-3443FA9E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6482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307BD-FAB1-42C8-8E76-0A764398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20617"/>
                </a:solidFill>
              </a:defRPr>
            </a:pPr>
            <a:r>
              <a:rPr sz="1800" b="1" i="0">
                <a:solidFill>
                  <a:srgbClr val="020617"/>
                </a:solidFill>
              </a:rPr>
              <a:t>Что видно контролеру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79FF8-FBCD-46D1-AFEA-848EEB7B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732AD-C755-4586-B082-C0D603C3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9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сроки и просрочки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59B18-9811-43E7-BC3E-252E55F5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BEF60-C1D5-43F1-A195-5A835C44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527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статусы и переходы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34CF7-8204-449E-A7F2-B0372AE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8431D-4124-4757-A76B-607A9506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ответственные роли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20834-BF12-4F53-AD37-931A74A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F3EE2-4CC5-418E-8B82-2047BC2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385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геометрия и территория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2067E-2096-4695-90E0-04A823A5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ED6EE-73AA-4175-A789-818F8459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документы и вложения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93966-E3D1-4A25-9708-8C497AC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73E0A-61C2-4D03-A773-8EF5A10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24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аудит изменений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770DC-4312-4ECF-BAA4-D8AD8E7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46482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C67B3-585F-47D6-83F3-B246D37D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20617"/>
                </a:solidFill>
              </a:defRPr>
            </a:pPr>
            <a:r>
              <a:rPr sz="1800" b="1" i="0">
                <a:solidFill>
                  <a:srgbClr val="020617"/>
                </a:solidFill>
              </a:rPr>
              <a:t>Что меняется в управлении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B8E8A-A532-40B1-8EAA-58D8E620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3714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0F172A"/>
                </a:solidFill>
              </a:defRPr>
            </a:pPr>
            <a:r>
              <a:rPr sz="1725" b="0" i="0">
                <a:solidFill>
                  <a:srgbClr val="0F172A"/>
                </a:solidFill>
              </a:rPr>
              <a:t>Проверка становится доказательной: объект на карте связан с карточкой, статусом, документами, правилами и историей. Это снижает зависимость от ручных запросов и разрозненных выгрузок.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51587-CB92-4400-9FC3-0AED9CB5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247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CB4CA-F56A-4E6A-B73E-ED1805F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81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59669"/>
                </a:solidFill>
              </a:defRPr>
            </a:pPr>
            <a:r>
              <a:rPr sz="1050" b="1" i="0">
                <a:solidFill>
                  <a:srgbClr val="059669"/>
                </a:solidFill>
              </a:rPr>
              <a:t>аудит + геометрия + статус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3D9B6-198D-491F-839C-EC0B6737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BDFBC-2651-4097-A93F-0DEB464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3879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CC561-4A02-4780-A8D5-5EB4D9A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ВОЗМОЖНОСТИ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F5A16-A380-4D6B-A090-3A5F40D7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Ключевые модули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5241A-54ED-4938-AE5A-14ED40C3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E38EA-4FA7-4AEE-9FF4-FF2FE23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01594-AEFE-49C4-89CA-AA9FCC83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9525">
            <a:solidFill>
              <a:srgbClr val="2563EB">
                <a:alpha val="2666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B305-3EAC-40D0-B56E-F7E6AF62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6F741-9707-42C1-834C-803426E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02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Конструктор сущностей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B9B85-989C-4E28-8002-DAF920D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поля, типы, обязательность, видимость, карта, права доступа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EDB83-6897-43E0-96A6-04910DD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6E2F9-96B6-4528-8C52-C8B853A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59669">
              <a:alpha val="9412"/>
            </a:srgbClr>
          </a:solidFill>
          <a:ln xmlns:a="http://schemas.openxmlformats.org/drawingml/2006/main" w="9525">
            <a:solidFill>
              <a:srgbClr val="059669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326DD-666E-4607-99AE-958E3B13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CD0B0-6D7F-48DF-9505-1F8FE50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002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Справочники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668A9-6EE6-4BC8-A8DD-416AE70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050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значения по сущностям, импорт из Excel, поиск, активность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D035B-3656-4038-8038-F12F3BB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28377-2282-4FFA-8286-949291DF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9525">
            <a:solidFill>
              <a:srgbClr val="7C3AED">
                <a:alpha val="2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9733F-A0A5-4CEF-A0DD-80C3118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1B49F-737C-42C2-8B58-3BA0F92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02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Импорт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F8DF6-F259-4AC1-9772-E2E1108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загрузка файла, сопоставление колонок, проверка и отчет по ошибкам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A9D79-8A77-4284-BF33-E7469D4C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59529-C823-43DE-96C6-7EF3380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EA5E9">
              <a:alpha val="9412"/>
            </a:srgbClr>
          </a:solidFill>
          <a:ln xmlns:a="http://schemas.openxmlformats.org/drawingml/2006/main" w="9525">
            <a:solidFill>
              <a:srgbClr val="0EA5E9">
                <a:alpha val="2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D86FD-D972-41D4-89B5-2421F0DF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E0A42-12FB-4278-B9FB-1E210BD2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Карта и геометрия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BC2AB-9FAC-4963-BBD1-BD73E12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OpenLayers, стили, цветовые правила, кластеризация, контур здания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0646D-ABA3-4F6E-890A-B2DF8959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6070E1-9546-4717-937B-24A97BC0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2626">
              <a:alpha val="9412"/>
            </a:srgbClr>
          </a:solidFill>
          <a:ln xmlns:a="http://schemas.openxmlformats.org/drawingml/2006/main" w="9525">
            <a:solidFill>
              <a:srgbClr val="DC2626">
                <a:alpha val="26667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0F4E34-39FD-4426-AE01-4D486E86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B8F09-C22A-4C9F-8E18-430C76F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004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Процессы и задачи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17F156-970F-4086-BA8B-938D9E3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052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статусы, переходы, роли, проверки обязательных полей и гео-правил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1E23E-2D43-44BA-9F38-4003EC76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3143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AE5B1-B3FC-40AB-BECD-66C3AF94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0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>
              <a:alpha val="9412"/>
            </a:srgbClr>
          </a:solidFill>
          <a:ln xmlns:a="http://schemas.openxmlformats.org/drawingml/2006/main" w="9525">
            <a:solidFill>
              <a:srgbClr val="D97706">
                <a:alpha val="26667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419C7-7F55-4BE9-923D-C95F987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36C5F-D6F9-4F0B-BEC0-515E2038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0047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API-генератор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C46A8-C8AC-467A-9F1C-C1163462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05275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REST-ручки для сущностей и справочников, фильтры query/body, OpenAPI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FEFF8D-0FD5-49D7-A0A3-4FA35B5E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D36D38-63E7-44A9-B3F1-D972EC96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3859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B85477-DD59-46DE-A3CC-E6E1281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22765-C976-4F34-A5EB-DEC735E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Импорт превращает существующие таблицы в управляемые объекты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C4BA0-EAE6-4B29-8D7B-4215187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C4581-DA60-4AD5-9F9C-DE307A2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362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9389F-C6E6-416B-A17D-85AECC9E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206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B61D9-ECF7-413B-BFE8-96DF520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18A51-458C-46B5-87B7-6FBC6CE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Выбор сущности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D0D95-3FFB-4F68-875E-46D7FFF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пользователь выбирает, в какой реестр загрузить 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F4FEA-CB8C-4BBF-8D85-BFC1F1BD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362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387F8-42BA-42A1-AE76-CB8F105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206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AA6AF-24F2-4CD4-A59B-CD37E8CD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2B5CF-843D-4EC0-B697-4A5866EA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Колонки файла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3F13C-E130-4503-BF27-AF626F0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622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поля из Excel сопоставляются с полями сущности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E7DC2-F436-41BA-A3B2-6931ACBF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2362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FB799-87F0-4924-996B-C655CFAC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206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6E060-ED6E-4A36-9A03-D2C3BDBD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553D0-A9C4-4C38-A225-7043EDFB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Проверка строк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37CEA-8496-4419-AD0B-C7378D17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даты, обязательные поля, адреса и ошибки видны до сохранения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F9822-9AEF-41F3-BCDE-729A93F6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362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BF70B-2DEC-4ABD-BCB1-5B72B2D3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0">
            <a:solidFill>
              <a:srgbClr val="0206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EF0D3-9CCB-45D2-857B-A539CCE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30145-99DE-44A4-887E-FB8EF04F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Создание объектов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F0AD2-EB8C-46BE-A8BC-4D3F94D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валидные строки становятся карточками, координатами и геометрией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604B2-2090-40B3-87A3-CEF1FFEC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77914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6EA9E-D105-47D7-A5FC-B11B586A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86250"/>
            <a:ext cx="29607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rPr sz="900" b="1" i="0">
                <a:solidFill>
                  <a:srgbClr val="64748B"/>
                </a:solidFill>
              </a:rPr>
              <a:t>Строка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557A7F-473F-4B41-8793-1DB8BFD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59" y="4286250"/>
            <a:ext cx="19478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rPr sz="900" b="1" i="0">
                <a:solidFill>
                  <a:srgbClr val="64748B"/>
                </a:solidFill>
              </a:rPr>
              <a:t>Поле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D2181-ED92-452E-9B08-0B8F8AB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286250"/>
            <a:ext cx="218160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Результат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FF3AF-6C59-4CDB-9221-87BB710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779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3AFC6-1594-4677-A132-3215FF3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29607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7A0F3A-A29D-41C8-9CAF-D066006D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59" y="4686300"/>
            <a:ext cx="19478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Адрес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73B672-6A9D-4C8A-AA42-1BD0A682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4686300"/>
            <a:ext cx="218160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59669"/>
                </a:solidFill>
              </a:defRPr>
            </a:pPr>
            <a:r>
              <a:rPr sz="975" b="1" i="0">
                <a:solidFill>
                  <a:srgbClr val="059669"/>
                </a:solidFill>
              </a:rPr>
              <a:t>Добавлено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8C94B-DDCF-42AC-8FE9-5B4823B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72050"/>
            <a:ext cx="779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7D2C9-403F-44B7-8DD5-5BADF9E9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29607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DD260-502E-4B05-9942-65F8A0F5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59" y="5086350"/>
            <a:ext cx="19478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Дата окончания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09C240-799E-411C-A9C1-E7D1E16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086350"/>
            <a:ext cx="218160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C2626"/>
                </a:solidFill>
              </a:defRPr>
            </a:pPr>
            <a:r>
              <a:rPr sz="975" b="1" i="0">
                <a:solidFill>
                  <a:srgbClr val="DC2626"/>
                </a:solidFill>
              </a:rPr>
              <a:t>Ошибка формата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F23CA-B427-4A24-AD07-CC90A8CD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72100"/>
            <a:ext cx="779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938D52-EA53-489C-9962-800EE208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86400"/>
            <a:ext cx="296075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24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949ECE-D695-4F59-852E-6FC1FFA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159" y="5486400"/>
            <a:ext cx="194786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0F172A"/>
                </a:solidFill>
              </a:defRPr>
            </a:pPr>
            <a:r>
              <a:rPr sz="975" b="0" i="0">
                <a:solidFill>
                  <a:srgbClr val="0F172A"/>
                </a:solidFill>
              </a:rPr>
              <a:t>Статус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4674FD-B99B-46D2-B7B9-0DA20DF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486400"/>
            <a:ext cx="218160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059669"/>
                </a:solidFill>
              </a:defRPr>
            </a:pPr>
            <a:r>
              <a:rPr sz="975" b="1" i="0">
                <a:solidFill>
                  <a:srgbClr val="059669"/>
                </a:solidFill>
              </a:rPr>
              <a:t>Добавлено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554CF4-17FE-4ACD-B2EB-4A1C1F78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29300"/>
            <a:ext cx="872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20617"/>
                </a:solidFill>
              </a:defRPr>
            </a:pPr>
            <a:r>
              <a:rPr sz="1500" b="1" i="0">
                <a:solidFill>
                  <a:srgbClr val="020617"/>
                </a:solidFill>
              </a:rPr>
              <a:t>Важное отличие: импорт не просто складывает файл в систему, а сразу готовит данные к работе на карте и в процессе.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FFFF10-1BAD-4D6A-8DD1-9CCB5548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BC247A-8BBD-4291-A044-177FB07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6695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5D59A7-A973-4865-B719-9397041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EB29D-5D1D-47C2-8188-0EC54254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GIS-модуль связывает адрес, дом, объект и территорию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89E20-B986-4803-BC98-67AE6D0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EE18B-1F77-4E02-9F83-561DEDF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8E4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1EF8B-8FC0-4914-9ABC-C281743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2B4E4-C8F5-4604-B1D3-C5066D5A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F011C-8D08-4660-8CE6-42F34EAB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317D3-5E56-44CB-A653-F82E9305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F77C8-5F27-47A8-A6AC-A3F045DC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23D50-05A9-4B15-BD64-0C094F3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D450C-4503-473F-884C-22F09857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220DB-5781-4E6C-AA75-EE836D0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DE6B-F43D-4435-8F66-42ABC8A0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9525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92C8A-F94D-4AF7-8DE6-257A0FD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B8CF1-1F31-4A53-974D-F80001EE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C4035-0E0B-4B60-8DBD-C4ADECA8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DF660-6C03-49C9-8CE8-1AD31F72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FF74F-487A-4082-858D-CA897EE5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7BA93-3DB4-40EB-956B-08FC194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5C285-0FDB-412E-9CC8-1FA23FF4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533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68877-CAAF-4889-A74A-C0A12E2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2095500" cy="1409700"/>
          </a:xfrm>
          <a:custGeom xmlns:a="http://schemas.openxmlformats.org/drawingml/2006/main">
            <a:pathLst>
              <a:path w="2095500" h="1409700">
                <a:moveTo>
                  <a:pt x="247650" y="171450"/>
                </a:moveTo>
                <a:lnTo>
                  <a:pt x="1695450" y="323850"/>
                </a:lnTo>
                <a:lnTo>
                  <a:pt x="1866900" y="1123950"/>
                </a:lnTo>
                <a:lnTo>
                  <a:pt x="781050" y="1257300"/>
                </a:lnTo>
                <a:lnTo>
                  <a:pt x="171450" y="781050"/>
                </a:lnTo>
                <a:close/>
              </a:path>
            </a:pathLst>
          </a:cu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62C3A-F13B-419C-B44A-C75A81EA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3390900" y="4476750"/>
            <a:ext cx="180975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B7707-CB24-492C-B448-6E235C2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24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4BF54-3474-4D2D-9CD9-B631ECCF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57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F1069-ECE7-45D4-89C9-75F0253A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411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адрес → координаты → контур здания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435F4-410C-4EFE-89D0-70A7995C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4767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3555D-3EC7-49BC-9A41-1C7EC1D5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20617"/>
                </a:solidFill>
              </a:defRPr>
            </a:pPr>
            <a:r>
              <a:rPr sz="1800" b="1" i="0">
                <a:solidFill>
                  <a:srgbClr val="020617"/>
                </a:solidFill>
              </a:rPr>
              <a:t>Что можно делать на карте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E12990-F2E6-4C60-AB25-9C18A31D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0512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563EB">
              <a:alpha val="8627"/>
            </a:srgbClr>
          </a:solidFill>
          <a:ln xmlns:a="http://schemas.openxmlformats.org/drawingml/2006/main" w="9525">
            <a:solidFill>
              <a:srgbClr val="2563EB">
                <a:alpha val="26667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18DF1D-EB3F-4128-B4DA-19596E2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44AEB-9621-476A-8FC4-482F336B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Определить геометрию по адресу из карточки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C655E-B43A-49E0-95E8-A40E105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432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59669">
              <a:alpha val="8627"/>
            </a:srgbClr>
          </a:solidFill>
          <a:ln xmlns:a="http://schemas.openxmlformats.org/drawingml/2006/main" w="9525">
            <a:solidFill>
              <a:srgbClr val="059669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1006E-605F-455A-8C7A-ACB2E857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66431A-4E75-46AE-9A59-BA3D8E8F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Кликнуть по дому и выбрать контур здания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0CBA0-2AD6-408E-9B4E-60558AF1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8142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7C3AED">
              <a:alpha val="8627"/>
            </a:srgbClr>
          </a:solidFill>
          <a:ln xmlns:a="http://schemas.openxmlformats.org/drawingml/2006/main" w="9525">
            <a:solidFill>
              <a:srgbClr val="7C3AED">
                <a:alpha val="26667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3E2C9D-CD9B-46B1-917A-0D1CF1C9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97670-DD1F-4DC5-A4F5-E740C6C7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90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Рисовать только разрешенные типы геометрии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ADB0C-3F4D-423F-8E50-34910C4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95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C2626">
              <a:alpha val="8627"/>
            </a:srgbClr>
          </a:solidFill>
          <a:ln xmlns:a="http://schemas.openxmlformats.org/drawingml/2006/main" w="9525">
            <a:solidFill>
              <a:srgbClr val="DC2626">
                <a:alpha val="26667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77B9D6-3FD6-4197-814C-60C267B1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E3DC26-BA9B-484F-9BD0-A4720E42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Менять цвет по условиям и статусам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ADA16-1FF4-48A9-928D-EB755D3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5772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97706">
              <a:alpha val="8627"/>
            </a:srgbClr>
          </a:solidFill>
          <a:ln xmlns:a="http://schemas.openxmlformats.org/drawingml/2006/main" w="9525">
            <a:solidFill>
              <a:srgbClr val="D97706">
                <a:alpha val="26667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8D9269-F6A8-4565-983E-E7F4883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33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0A8968-82DC-4A9B-AFB7-016572E0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Включать кластеризацию для точечных объектов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069067-7BF7-4911-A719-F6C65111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319B14-30C6-412B-8580-660FA25E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9137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A131FD-6540-4F5B-A558-4290E70C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ГЛАВНЫЙ ЭКРАН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BBB1A-8675-4B68-9503-A957B357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Дашборды показывают управленческие сигналы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76744-5646-4C51-AC22-D2AC5F0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BF132-95DB-4F6B-9B22-55568C64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Пользователь сам собирает summary-блоки по сущностям: выбирает поле, метрику, условия, цвет реакции и описание для подсказки.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496B5-96F8-4901-883C-648F7E59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162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7F0BD-6B55-4154-AA01-9C4099FE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Просроченные обращения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F4B45-BCE5-452F-B940-BDD8865B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C2626"/>
                </a:solidFill>
              </a:defRPr>
            </a:pPr>
            <a:r>
              <a:rPr sz="2550" b="1" i="0">
                <a:solidFill>
                  <a:srgbClr val="DC2626"/>
                </a:solidFill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009C9-9205-4C8B-ABA4-A090A5AD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1C33C-CA31-4B16-9A94-021346A6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76625"/>
            <a:ext cx="66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rPr sz="900" b="1" i="0">
                <a:solidFill>
                  <a:srgbClr val="64748B"/>
                </a:solidFill>
              </a:rPr>
              <a:t>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4943-705E-4FBC-BC58-29CC0E2D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красный — при наличии просрочки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9CAB7-1C8D-44C3-A6FA-18F2782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38500"/>
            <a:ext cx="3162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28074-708D-4329-AB56-6236A8D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90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Ордера в работе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3CC48-24E7-4E0F-9F79-D82148D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7DE21-10BB-4F8F-8950-EBF2227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D259C-6EA7-4777-980F-338157B3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76625"/>
            <a:ext cx="66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rPr sz="900" b="1" i="0">
                <a:solidFill>
                  <a:srgbClr val="64748B"/>
                </a:solidFill>
              </a:rPr>
              <a:t>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F8363-2904-4E35-88CF-7222442C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желтый — если срок близок к завершению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90A4F-BAD8-4BA6-AAA2-EB8FB1B9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3162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71988-1274-474E-B909-B8ABBECB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20617"/>
                </a:solidFill>
              </a:defRPr>
            </a:pPr>
            <a:r>
              <a:rPr sz="1275" b="1" i="0">
                <a:solidFill>
                  <a:srgbClr val="020617"/>
                </a:solidFill>
              </a:rPr>
              <a:t>Объекты без геометрии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76AA5-75A7-458C-9C58-6BED984A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563EB"/>
                </a:solidFill>
              </a:defRPr>
            </a:pPr>
            <a:r>
              <a:rPr sz="2550" b="1" i="0">
                <a:solidFill>
                  <a:srgbClr val="2563EB"/>
                </a:solidFill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99E2E-D2B4-47EC-9980-F7AE95E9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CACFB-1D94-4010-82C1-E0BF459F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76625"/>
            <a:ext cx="666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4748B"/>
                </a:solidFill>
              </a:defRPr>
            </a:pPr>
            <a:r>
              <a:rPr sz="900" b="1" i="0">
                <a:solidFill>
                  <a:srgbClr val="64748B"/>
                </a:solidFill>
              </a:rPr>
              <a:t>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1C156-E206-4C11-A7E1-482F3EE9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синий — требует уточнения на карте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498BC-04DD-43C7-9E4D-0B56196C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419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1241D-C74E-46AB-A984-79C786FB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4748B"/>
                </a:solidFill>
              </a:defRPr>
            </a:pPr>
            <a:r>
              <a:rPr sz="975" b="1" i="0">
                <a:solidFill>
                  <a:srgbClr val="64748B"/>
                </a:solidFill>
              </a:rPr>
              <a:t>Пример условия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9CD3D-298A-4964-B732-B44F30F2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20617"/>
                </a:solidFill>
              </a:defRPr>
            </a:pPr>
            <a:r>
              <a:rPr sz="1200" b="1" i="0">
                <a:solidFill>
                  <a:srgbClr val="020617"/>
                </a:solidFill>
              </a:rPr>
              <a:t>“показать ордера, созданные сегодня, или ордера со сроком позже текущей даты и статусом в работе”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2D76C-1989-460E-8F0F-4B266586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A143D-EF48-45E6-AB32-91D0EE49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9299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34F43A-B8D3-4D39-A055-356D4BE5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ТЕХНИЧЕСКАЯ 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141F6-A975-4CCB-9772-AE49797D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Архитектура готова к муниципальному и региональному масштабу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EDFF3-A923-40FE-9D54-021BC8EB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FF334-BB94-45D9-8246-394560A8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69D5A-1883-4F85-B70E-E355527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>
              <a:alpha val="9412"/>
            </a:srgbClr>
          </a:solidFill>
          <a:ln xmlns:a="http://schemas.openxmlformats.org/drawingml/2006/main" w="9525">
            <a:solidFill>
              <a:srgbClr val="2563EB">
                <a:alpha val="26667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E922D-12C3-48EE-BF73-82C2A4FC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2A37E-5426-475E-AAFF-1F1DB69C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62175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PostgreSQL + PostGIS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1FA99-F55D-41F8-8535-B6DAB9BE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6697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геометрии, адреса и объекты в промышленной ГИС-базе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08FFD-ED92-4F53-9F3E-60C9B632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D872E-F09B-4B99-9B6C-45A813B3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59669">
              <a:alpha val="9412"/>
            </a:srgbClr>
          </a:solidFill>
          <a:ln xmlns:a="http://schemas.openxmlformats.org/drawingml/2006/main" w="9525">
            <a:solidFill>
              <a:srgbClr val="059669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10D1A-983E-4D65-826E-4DF4B57D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29D71-F3E3-4C65-9491-3E6E26B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14675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3НФ модель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9CC8F-5F5A-4FA6-A974-FC9A2CFC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1947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сущности, поля, значения, справочники, роли и аудит разделены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C98C5-79D5-4980-9BBA-296FA4BE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9570B-2188-467F-8CAD-ACBA820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9525">
            <a:solidFill>
              <a:srgbClr val="7C3AED">
                <a:alpha val="26667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09C9C-EED6-450A-9802-8C70735A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CFEDF-E3FE-4B49-82C0-11D95F26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RBAC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7D706-CD48-457D-89FC-1EB763C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системные и объектные разрешения по ролям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FCDB5-FE3B-4088-9C9C-3EE92ED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5AA21-99EF-4E89-99BD-1581EA8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>
              <a:alpha val="9412"/>
            </a:srgbClr>
          </a:solidFill>
          <a:ln xmlns:a="http://schemas.openxmlformats.org/drawingml/2006/main" w="9525">
            <a:solidFill>
              <a:srgbClr val="D97706">
                <a:alpha val="26667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4DFAE-0897-432B-BD74-20853E1E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6F240-4428-4AF3-B9EF-11B3817A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20617"/>
                </a:solidFill>
              </a:defRPr>
            </a:pPr>
            <a:r>
              <a:rPr sz="1350" b="1" i="0">
                <a:solidFill>
                  <a:srgbClr val="020617"/>
                </a:solidFill>
              </a:rPr>
              <a:t>Generated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1C4DD-3BF7-4F1C-831B-3B7C3257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24475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единый каталог REST-ручек и OpenAPI для интеграций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78985-28B8-467A-A5DC-887DCB74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5148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C25DF-92E6-4016-80D8-B777FBEA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20617"/>
                </a:solidFill>
              </a:defRPr>
            </a:pPr>
            <a:r>
              <a:rPr sz="1650" b="1" i="0">
                <a:solidFill>
                  <a:srgbClr val="020617"/>
                </a:solidFill>
              </a:rPr>
              <a:t>Слои данных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310EA-5FC8-4000-8CC4-392331CB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7147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152B6E-3B17-42C1-A53E-6284A28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20617"/>
                </a:solidFill>
              </a:defRPr>
            </a:pPr>
            <a:r>
              <a:rPr sz="1125" b="1" i="0">
                <a:solidFill>
                  <a:srgbClr val="020617"/>
                </a:solidFill>
              </a:rPr>
              <a:t>Настройки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DBE81-A5D3-4976-8E31-1D921DA9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сущности, поля, карта, справочники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F6169-0FD1-4C43-A481-679A106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14700"/>
            <a:ext cx="37147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462FC-DBC7-4D4B-90AC-60E43C66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20617"/>
                </a:solidFill>
              </a:defRPr>
            </a:pPr>
            <a:r>
              <a:rPr sz="1125" b="1" i="0">
                <a:solidFill>
                  <a:srgbClr val="020617"/>
                </a:solidFill>
              </a:rPr>
              <a:t>Операционные данные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DBF6F-78EE-4F2B-B675-E9B22A9B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объекты, значения, задачи, документы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51870-DF44-4734-BBE0-395C56A8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37147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5CD09-12ED-4AF5-B094-1FCDFCB5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20617"/>
                </a:solidFill>
              </a:defRPr>
            </a:pPr>
            <a:r>
              <a:rPr sz="1125" b="1" i="0">
                <a:solidFill>
                  <a:srgbClr val="020617"/>
                </a:solidFill>
              </a:rPr>
              <a:t>Контроль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7B536E-169F-4C7B-B24E-570FE410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процессы, гео-правила, аудит, отчеты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524D8F-D82F-4075-AF30-DFAA0A6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371475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E2CCF-3A6A-4B18-B055-CF114C8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20617"/>
                </a:solidFill>
              </a:defRPr>
            </a:pPr>
            <a:r>
              <a:rPr sz="1125" b="1" i="0">
                <a:solidFill>
                  <a:srgbClr val="020617"/>
                </a:solidFill>
              </a:rPr>
              <a:t>Интеграции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F7B9B9-F3BC-48C3-8AB5-8750A8EC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API, OpenAPI, импорт/экспорт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36280-836F-4A08-8D2B-06B8905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254505-9B4D-42A9-BA12-29D7B1A2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1355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47E58-9685-4735-9891-39ECD68A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563EB"/>
                </a:solidFill>
              </a:defRPr>
            </a:pPr>
            <a:r>
              <a:rPr sz="825" b="1" i="0">
                <a:solidFill>
                  <a:srgbClr val="2563EB"/>
                </a:solidFill>
              </a:rPr>
              <a:t>ПРОДАЖА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688ED-8495-432E-B185-2CBAE27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20617"/>
                </a:solidFill>
              </a:defRPr>
            </a:pPr>
            <a:r>
              <a:rPr sz="2850" b="1" i="0">
                <a:solidFill>
                  <a:srgbClr val="020617"/>
                </a:solidFill>
              </a:rPr>
              <a:t>Коммерческая упаковка строится вокруг скорости запуска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467EF-16FE-4777-9633-11323EC6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7A320-5F08-41FF-857C-1CDA1C7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E21EB-4495-4E1F-9241-A2DD0F7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68785-905C-4609-B862-F94A6BF2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20617"/>
                </a:solidFill>
              </a:defRPr>
            </a:pPr>
            <a:r>
              <a:rPr sz="2100" b="1" i="0">
                <a:solidFill>
                  <a:srgbClr val="020617"/>
                </a:solidFill>
              </a:rPr>
              <a:t>Пилот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31899-CE39-4B7B-91E0-8FAC032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563EB"/>
                </a:solidFill>
              </a:defRPr>
            </a:pPr>
            <a:r>
              <a:rPr sz="1350" b="1" i="0">
                <a:solidFill>
                  <a:srgbClr val="2563EB"/>
                </a:solidFill>
              </a:rPr>
              <a:t>1 процесс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A34B0-3944-4985-9155-6547A4D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49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берем реальный Excel, настраиваем сущность, карту и дашборд, показываем результат на данных заказчика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2B10C-B90E-4B82-A409-EFDF821E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581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>
              <a:alpha val="7843"/>
            </a:srgbClr>
          </a:solidFill>
          <a:ln xmlns:a="http://schemas.openxmlformats.org/drawingml/2006/main" w="9525">
            <a:solidFill>
              <a:srgbClr val="2563EB">
                <a:alpha val="2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CA29B-5AB0-4412-BA26-5C50FAE0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563EB"/>
                </a:solidFill>
              </a:defRPr>
            </a:pPr>
            <a:r>
              <a:rPr sz="900" b="1" i="0">
                <a:solidFill>
                  <a:srgbClr val="2563EB"/>
                </a:solidFill>
              </a:rPr>
              <a:t>быстрый вход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9B7EF-8FF3-4788-806F-20E0831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D65A8-5880-44D8-A665-78C7739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77A5-9FC2-4063-AC68-19520C48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20617"/>
                </a:solidFill>
              </a:defRPr>
            </a:pPr>
            <a:r>
              <a:rPr sz="2100" b="1" i="0">
                <a:solidFill>
                  <a:srgbClr val="020617"/>
                </a:solidFill>
              </a:rPr>
              <a:t>Департамент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1626F-C6B6-450A-B993-1DF8F1E6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59669"/>
                </a:solidFill>
              </a:defRPr>
            </a:pPr>
            <a:r>
              <a:rPr sz="1350" b="1" i="0">
                <a:solidFill>
                  <a:srgbClr val="059669"/>
                </a:solidFill>
              </a:rPr>
              <a:t>несколько реестров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612F3-64EE-4C43-B217-498021A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249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добавляем роли, справочники, импорт, процессы, документы и отчетность для рабочей группы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F33DB-A0ED-4FED-B6F7-1E44C8BE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1581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59669">
              <a:alpha val="7843"/>
            </a:srgbClr>
          </a:solidFill>
          <a:ln xmlns:a="http://schemas.openxmlformats.org/drawingml/2006/main" w="9525">
            <a:solidFill>
              <a:srgbClr val="059669">
                <a:alpha val="26667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9153F-0CBB-40B7-B5F2-7C173CA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291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59669"/>
                </a:solidFill>
              </a:defRPr>
            </a:pPr>
            <a:r>
              <a:rPr sz="900" b="1" i="0">
                <a:solidFill>
                  <a:srgbClr val="059669"/>
                </a:solidFill>
              </a:rPr>
              <a:t>рабочий масштаб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24C72-7A9D-4131-8DA4-9A5A8A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143250" cy="3276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D0EF-F658-49C5-B8D9-96A8188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96244-EA7D-491D-91F4-12AF12B7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20617"/>
                </a:solidFill>
              </a:defRPr>
            </a:pPr>
            <a:r>
              <a:rPr sz="2100" b="1" i="0">
                <a:solidFill>
                  <a:srgbClr val="020617"/>
                </a:solidFill>
              </a:rPr>
              <a:t>Город / регион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C9D8CA-3BE8-4EA0-A232-14033D93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3AED"/>
                </a:solidFill>
              </a:defRPr>
            </a:pPr>
            <a:r>
              <a:rPr sz="1350" b="1" i="0">
                <a:solidFill>
                  <a:srgbClr val="7C3AED"/>
                </a:solidFill>
              </a:rPr>
              <a:t>единая модель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BB70F-8BCD-4C2F-BCF2-B42EB0DD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2495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F172A"/>
                </a:solidFill>
              </a:defRPr>
            </a:pPr>
            <a:r>
              <a:rPr sz="1275" b="0" i="0">
                <a:solidFill>
                  <a:srgbClr val="0F172A"/>
                </a:solidFill>
              </a:rPr>
              <a:t>масштабируем на муниципалитеты, подключаем API, права, аудит и типовые настройки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E59A0-3C42-42AE-AB5F-8422B66C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1581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C3AED">
              <a:alpha val="7843"/>
            </a:srgbClr>
          </a:solidFill>
          <a:ln xmlns:a="http://schemas.openxmlformats.org/drawingml/2006/main" w="9525">
            <a:solidFill>
              <a:srgbClr val="7C3AED">
                <a:alpha val="26667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5A25D-5622-4138-872A-3F42B08E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291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7C3AED"/>
                </a:solidFill>
              </a:defRPr>
            </a:pPr>
            <a:r>
              <a:rPr sz="900" b="1" i="0">
                <a:solidFill>
                  <a:srgbClr val="7C3AED"/>
                </a:solidFill>
              </a:rPr>
              <a:t>стандарт региона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E79A1-C567-41CF-B34F-38AED71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939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20617"/>
                </a:solidFill>
              </a:defRPr>
            </a:pPr>
            <a:r>
              <a:rPr sz="1500" b="1" i="0">
                <a:solidFill>
                  <a:srgbClr val="020617"/>
                </a:solidFill>
              </a:rPr>
              <a:t>Продажа начинается не с “внедрения платформы”, а с понятного процесса, который уже болит: ордера, обращения, благоустройство, проверки, ремонт, нестационарные объекты.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18008E-A84F-410E-98BE-54E55CB6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Муниципальная GIS-платформа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AB542-6CD7-4CE9-AD38-CAC9001D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4748B"/>
                </a:solidFill>
              </a:defRPr>
            </a:pPr>
            <a:r>
              <a:rPr sz="825" b="1" i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98347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D74FF-71AB-4BBE-ACC5-F5C1FD9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EA5E9"/>
                </a:solidFill>
              </a:defRPr>
            </a:pPr>
            <a:r>
              <a:rPr sz="900" b="1" i="0">
                <a:solidFill>
                  <a:srgbClr val="0EA5E9"/>
                </a:solidFill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4B12D-4DC5-4776-BB59-DA811D6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619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Начать можно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с одного реального</a:t>
            </a:r>
          </a:p>
          <a:p xmlns:a="http://schemas.openxmlformats.org/drawingml/2006/main">
            <a:pPr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6BAF0-0348-4535-9D46-A5F5E21F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BD5E1"/>
                </a:solidFill>
              </a:defRPr>
            </a:pPr>
            <a:r>
              <a:rPr sz="1725" b="0" i="0">
                <a:solidFill>
                  <a:srgbClr val="CBD5E1"/>
                </a:solidFill>
              </a:rPr>
              <a:t>Берем Excel заказчика, настраиваем сущность, импортируем адреса, показываем карту, контрольный дашборд и API-каталог.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40202-F38C-4747-8A42-D6FCCEC3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28750"/>
            <a:ext cx="373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FEEF-CD97-43CB-839A-D66AEEBD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CF86C-640D-4C37-A642-43A58CF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81175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65D80-24CE-4ACF-978F-8C633F87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Выбрать процесс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2FBD7-A8CF-46CB-BA32-C0F9F01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94A3B8"/>
                </a:solidFill>
              </a:defRPr>
            </a:pPr>
            <a:r>
              <a:rPr sz="975" b="0" i="0">
                <a:solidFill>
                  <a:srgbClr val="94A3B8"/>
                </a:solidFill>
              </a:rPr>
              <a:t>ордер, обращение, проверка, объект благоустройства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DB849-DD4B-417E-963A-F7ACD50E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373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69EF7-7858-443E-A52A-D0BC67AD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0393A-EC5F-48E0-895C-688526E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76575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A9F2-87F8-474A-81A6-7831C4C4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Загрузить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3A81F-F465-4C7C-90EA-11451F0D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94A3B8"/>
                </a:solidFill>
              </a:defRPr>
            </a:pPr>
            <a:r>
              <a:rPr sz="975" b="0" i="0">
                <a:solidFill>
                  <a:srgbClr val="94A3B8"/>
                </a:solidFill>
              </a:rPr>
              <a:t>файл, адреса, даты, справочники и ошибки строк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D4948-3D0E-4455-97D0-894AB03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3733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5E824-554E-405C-9B57-4EC91CAC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27229-9228-496F-9F4B-CB1E5EC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71975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B5373-A9E6-4E22-BE1C-361B735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Показать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3B255-7AA5-42E1-A5DE-DAA70B6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94A3B8"/>
                </a:solidFill>
              </a:defRPr>
            </a:pPr>
            <a:r>
              <a:rPr sz="975" b="0" i="0">
                <a:solidFill>
                  <a:srgbClr val="94A3B8"/>
                </a:solidFill>
              </a:rPr>
              <a:t>карта, карточки, статусы, аудит,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C7AC6-F729-49FA-BE2B-4F73EC7B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6E9D2-FF5F-4810-8AE4-1441D4A7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Пилот на данных</a:t>
            </a:r>
          </a:p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заказчика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97166-847F-436A-A92D-5FED95AC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94A3B8"/>
                </a:solidFill>
              </a:defRPr>
            </a:pPr>
            <a:r>
              <a:rPr sz="825" b="1" i="0">
                <a:solidFill>
                  <a:srgbClr val="94A3B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3793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2026-08-17T09:06:23.9740000Z</dcterms:created>
  <dcterms:modified xsi:type="dcterms:W3CDTF">2026-08-17T09:06:23.9740000Z</dcterms:modified>
</coreProperties>
</file>